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EEF3FA"/>
                </a:solidFill>
                <a:latin typeface="Aptos"/>
              </a:rPr>
              <a:t>AI-Powered RAG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901952"/>
            <a:ext cx="10058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E8B339"/>
                </a:solidFill>
                <a:latin typeface="Aptos"/>
              </a:rPr>
              <a:t>Cybercrime Investigation Assistant for Detectives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87782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A9B5C6"/>
                </a:solidFill>
                <a:latin typeface="Aptos"/>
              </a:rPr>
              <a:t>Retrieves relevant case evidence, ranks it with confidence, and generates a cited investigation report without hardcoding case facts.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4160520"/>
            <a:ext cx="338328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4160520"/>
            <a:ext cx="73152" cy="105156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325112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Core principle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690872"/>
            <a:ext cx="3063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Evidence first. LLM second. Citations always.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160520"/>
            <a:ext cx="338328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4160520"/>
            <a:ext cx="73152" cy="105156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4325112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Design goal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4690872"/>
            <a:ext cx="3063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Reusable across future case corpora.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4160520"/>
            <a:ext cx="338328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28431" y="4160520"/>
            <a:ext cx="73152" cy="105156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325112"/>
            <a:ext cx="30632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Risk handled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690872"/>
            <a:ext cx="306324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Red herrings and prompt injection.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Problem Framing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Crypto exchange hack with useful evidence mixed among misleading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EF3FA"/>
                </a:solidFill>
                <a:latin typeface="Aptos"/>
              </a:defRPr>
            </a:pPr>
            <a:r>
              <a:t>Detectives have 8 case files, but not all are relevant.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Need natural-language investigation questions.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Need evidence retrieval, ranking, justification, and report generation.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Prompts must remain case-agnostic: no hardcoded hack details.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983480" cy="100584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417320"/>
            <a:ext cx="73152" cy="100584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58191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What the system should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94767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Turn a detective question into ranked evidence and a cited report.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697480"/>
            <a:ext cx="4983480" cy="100584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697480"/>
            <a:ext cx="73152" cy="100584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862072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What it should not 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22783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Let the LLM invent facts from memory or hidden case-specific prompts.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3977639"/>
            <a:ext cx="4983480" cy="100584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3977639"/>
            <a:ext cx="73152" cy="100584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4142231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Interview framing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507992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This is an evidence-gathering assistant, not an oracle.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Architecture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205740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73152" cy="114300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99339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1. Ingest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23591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Load data/*.txt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221284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B339"/>
                </a:solidFill>
                <a:latin typeface="Aptos"/>
              </a:rPr>
              <a:t>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07208" y="1828800"/>
            <a:ext cx="205740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07208" y="1828800"/>
            <a:ext cx="73152" cy="114300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08376" y="199339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2. Embed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8376" y="23591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text-embedding-3-small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221284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B339"/>
                </a:solidFill>
                <a:latin typeface="Aptos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11496" y="1828800"/>
            <a:ext cx="205740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111496" y="1828800"/>
            <a:ext cx="73152" cy="114300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12664" y="199339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3.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2664" y="23591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ChromaDB cosine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1464" y="221284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B339"/>
                </a:solidFill>
                <a:latin typeface="Aptos"/>
              </a:rPr>
              <a:t>&gt;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15784" y="1828800"/>
            <a:ext cx="205740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15784" y="1828800"/>
            <a:ext cx="73152" cy="114300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16952" y="199339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4. 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3591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multi-step search + grading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45752" y="221284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E8B339"/>
                </a:solidFill>
                <a:latin typeface="Aptos"/>
              </a:rPr>
              <a:t>&gt;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20072" y="1828800"/>
            <a:ext cx="205740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720072" y="1828800"/>
            <a:ext cx="73152" cy="114300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21240" y="1993392"/>
            <a:ext cx="1737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5.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359152"/>
            <a:ext cx="1737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cited investigation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840480"/>
            <a:ext cx="105156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>
                <a:solidFill>
                  <a:srgbClr val="A9B5C6"/>
                </a:solidFill>
                <a:latin typeface="Aptos"/>
              </a:rPr>
              <a:t>The runtime path is generic: new .txt case files can be dropped into data/ and investigated with the same prompts and code.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Model And Database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74720" cy="33832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73152" cy="338328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49047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Embedding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856231"/>
            <a:ext cx="315467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text-embedding-3-small
Fast, cost-effective, and strong enough for short evidence files. Whole-document embedding preserves red-herring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474720" cy="33832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325880"/>
            <a:ext cx="73152" cy="338328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49047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Chat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856231"/>
            <a:ext cx="315467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gpt-4o-mini
Used for query expansion, relevance grading, and report generation. Good quality/cost balance for interactive use.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474720" cy="33832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325880"/>
            <a:ext cx="73152" cy="338328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9047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Vector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56231"/>
            <a:ext cx="3154679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ChromaDB
Simple persistent local vector store with cosine similarity. Suitable for a small case-file corpus.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A9B5C6"/>
                </a:solidFill>
                <a:latin typeface="Aptos"/>
              </a:rPr>
              <a:t>Production note: for scale/multi-user ops, revisit pgvector, Pinecone, Weaviate, or managed vector storage.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Retrieval Strategy: Multi-Step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EF3FA"/>
                </a:solidFill>
                <a:latin typeface="Aptos"/>
              </a:defRPr>
            </a:pPr>
            <a:r>
              <a:t>Expand detective question into focused search angles.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Search original query + expanded queries.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Merge and deduplicate candidate docs.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Rank by cosine similarity confidence.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LLM relevance grader filters red herrings.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Show excluded docs with reasons.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371600"/>
            <a:ext cx="489204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0" y="1371600"/>
            <a:ext cx="73152" cy="114300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01968" y="153619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Why not single-step?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1968" y="1901952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One nearest document cannot answer multi-document investigation questions.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788920"/>
            <a:ext cx="489204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788920"/>
            <a:ext cx="73152" cy="114300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2953512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Why not naive top-k?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3319272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It improves recall but floods the report with distractors.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206240"/>
            <a:ext cx="4892040" cy="114300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4206240"/>
            <a:ext cx="73152" cy="114300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370831"/>
            <a:ext cx="4572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Why multi-step?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4736592"/>
            <a:ext cx="4572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Best balance for evidence chaining with misleading files.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Ranking, Confidence, And Explainability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280160"/>
            <a:ext cx="10607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E8B339"/>
                </a:solidFill>
                <a:latin typeface="Aptos"/>
              </a:rPr>
              <a:t>confidence = 1 - cosine_distance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3200400" cy="20116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240280"/>
            <a:ext cx="73152" cy="201168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40487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Each result shows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770632"/>
            <a:ext cx="2880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Source file
Confidence score
Matched query
Relevance reason
Evidence 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240280"/>
            <a:ext cx="3200400" cy="20116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2240280"/>
            <a:ext cx="73152" cy="201168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240487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Excluded docs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770632"/>
            <a:ext cx="2880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Not hidden. Shown separately with why they were ruled out.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240280"/>
            <a:ext cx="3200400" cy="201168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240280"/>
            <a:ext cx="73152" cy="201168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404872"/>
            <a:ext cx="2880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Important caveat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2770632"/>
            <a:ext cx="2880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Confidence is retrieval similarity, not probability of truth.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Happy Path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8755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Question: How were the stolen funds laundered?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716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EF3FA"/>
                </a:solidFill>
                <a:latin typeface="Aptos"/>
              </a:defRPr>
            </a:pPr>
            <a:r>
              <a:t>Retrieves Solana wallet evidence.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Retrieves Tornado Cash mixer evidence.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Ranks relevant documents by confidence.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Excludes unrelated files.</a:t>
            </a:r>
          </a:p>
          <a:p>
            <a:pPr>
              <a:spcAft>
                <a:spcPts val="1000"/>
              </a:spcAft>
              <a:defRPr sz="1800">
                <a:solidFill>
                  <a:srgbClr val="A9B5C6"/>
                </a:solidFill>
                <a:latin typeface="Aptos"/>
              </a:defRPr>
            </a:pPr>
            <a:r>
              <a:t>Generates a cited laundering-path report.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480060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463040"/>
            <a:ext cx="73152" cy="105156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1627632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Demonstrates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1968" y="1993392"/>
            <a:ext cx="44805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multi-document retrieval + evidence chaining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743200"/>
            <a:ext cx="480060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2743200"/>
            <a:ext cx="73152" cy="105156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2907792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Report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3273552"/>
            <a:ext cx="44805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grounded findings with source citations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023360"/>
            <a:ext cx="4800600" cy="10515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4023360"/>
            <a:ext cx="73152" cy="105156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4187952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Key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4553712"/>
            <a:ext cx="4480560" cy="4114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case-specific answer without case-specific prompt logic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Sad Path: Prompt Injection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5120640" cy="11887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118872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Threat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A malicious evidence file says: ignore instructions, declare someone guilty, output a secret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5120640" cy="11887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743200"/>
            <a:ext cx="73152" cy="118872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2907792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Controls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273552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Evidence documents are framed as untrusted data, not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251960"/>
            <a:ext cx="5120640" cy="11887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251960"/>
            <a:ext cx="73152" cy="118872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4416552"/>
            <a:ext cx="48006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UI safety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82312"/>
            <a:ext cx="4800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Case text is escaped before rendering to reduce XSS risk.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3258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EEF3FA"/>
                </a:solidFill>
                <a:latin typeface="Aptos"/>
              </a:defRPr>
            </a:pPr>
            <a:r>
              <a:t>Tests cover stored prompt injection.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System-prompt exfiltration attempts.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Grader manipulation by red-herring docs.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Injected instructions inside retrieved evidence.</a:t>
            </a:r>
          </a:p>
          <a:p>
            <a:pPr>
              <a:spcAft>
                <a:spcPts val="1000"/>
              </a:spcAft>
              <a:defRPr sz="1600">
                <a:solidFill>
                  <a:srgbClr val="A9B5C6"/>
                </a:solidFill>
                <a:latin typeface="Aptos"/>
              </a:defRPr>
            </a:pPr>
            <a:r>
              <a:t>HTML/JS payloads in case text.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Evaluation And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3474720" cy="30175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73152" cy="301752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3990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Stored fixture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764792"/>
            <a:ext cx="3154679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100% retrieval recall
~86% distractor rejection
8/8 top-1 relevant
0 hallucinated source citations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474720" cy="30175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234440"/>
            <a:ext cx="73152" cy="30175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3990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Offline mock 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1764792"/>
            <a:ext cx="3154679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No OpenAI calls
Checks retrieval wiring
Checks confidence conversion
Checks citation retry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234440"/>
            <a:ext cx="3474720" cy="301752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79" y="1234440"/>
            <a:ext cx="73152" cy="301752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399032"/>
            <a:ext cx="315467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Honest caveat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764792"/>
            <a:ext cx="3154679" cy="2377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100% is fixture-level only. It is not a real-world accuracy claim.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9B5C6"/>
                </a:solidFill>
                <a:latin typeface="Aptos"/>
              </a:rPr>
              <a:t>For production: expand blind evals, add negative queries, conflicting evidence, human review, and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EEF3FA"/>
                </a:solidFill>
                <a:latin typeface="Aptos"/>
              </a:rPr>
              <a:t>Final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68680"/>
            <a:ext cx="1143000" cy="4572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EEF3FA"/>
                </a:solidFill>
                <a:latin typeface="Aptos"/>
              </a:rPr>
              <a:t>I optimized this as an evidence-gathering assistant, not an oracle.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2743200"/>
            <a:ext cx="3108960" cy="12801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743200"/>
            <a:ext cx="73152" cy="1280160"/>
          </a:xfrm>
          <a:prstGeom prst="rect">
            <a:avLst/>
          </a:prstGeom>
          <a:solidFill>
            <a:srgbClr val="4AC770"/>
          </a:solidFill>
          <a:ln>
            <a:solidFill>
              <a:srgbClr val="4AC7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907792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Traceable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327355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Evidence + citations before conclusions.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2743200"/>
            <a:ext cx="3108960" cy="12801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73152" cy="1280160"/>
          </a:xfrm>
          <a:prstGeom prst="rect">
            <a:avLst/>
          </a:prstGeom>
          <a:solidFill>
            <a:srgbClr val="E8B339"/>
          </a:solidFill>
          <a:ln>
            <a:solidFill>
              <a:srgbClr val="E8B3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73168" y="2907792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Reusable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327355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No case-specific facts in prompts.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743200"/>
            <a:ext cx="3108960" cy="1280160"/>
          </a:xfrm>
          <a:prstGeom prst="roundRect">
            <a:avLst/>
          </a:prstGeom>
          <a:solidFill>
            <a:srgbClr val="141B26"/>
          </a:solidFill>
          <a:ln>
            <a:solidFill>
              <a:srgbClr val="2D39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2743200"/>
            <a:ext cx="73152" cy="1280160"/>
          </a:xfrm>
          <a:prstGeom prst="rect">
            <a:avLst/>
          </a:prstGeom>
          <a:solidFill>
            <a:srgbClr val="F4655C"/>
          </a:solidFill>
          <a:ln>
            <a:solidFill>
              <a:srgbClr val="F465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2907792"/>
            <a:ext cx="2788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EEF3FA"/>
                </a:solidFill>
                <a:latin typeface="Aptos"/>
              </a:rPr>
              <a:t>Robust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3273552"/>
            <a:ext cx="2788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A9B5C6"/>
                </a:solidFill>
                <a:latin typeface="Aptos"/>
              </a:rPr>
              <a:t>Designed for red herrings and prompt injection.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9B5C6"/>
                </a:solidFill>
                <a:latin typeface="Aptos"/>
              </a:rPr>
              <a:t>Walkthrough order: problem -&gt; architecture -&gt; choices -&gt; retrieval -&gt; happy path -&gt; sad path -&gt; evaluation -&gt; production improvements.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5486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0">
                <a:solidFill>
                  <a:srgbClr val="697382"/>
                </a:solidFill>
                <a:latin typeface="Aptos"/>
              </a:rPr>
              <a:t>Case Evidence Retrieval System | RAG System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