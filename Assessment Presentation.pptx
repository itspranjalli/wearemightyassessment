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9" r:id="rId5"/>
    <p:sldId id="267" r:id="rId6"/>
    <p:sldId id="261" r:id="rId7"/>
    <p:sldId id="264" r:id="rId8"/>
    <p:sldId id="265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6286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B87DD-EA0F-3640-A479-48CC94DBF49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51439-9237-2545-846D-D815B7901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6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51439-9237-2545-846D-D815B79013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2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51439-9237-2545-846D-D815B79013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5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62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88720"/>
            <a:ext cx="551477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chemeClr val="bg1"/>
                </a:solidFill>
                <a:latin typeface="Aptos"/>
              </a:rPr>
              <a:t>AI-Powered 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01952"/>
            <a:ext cx="56047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1" dirty="0">
                <a:solidFill>
                  <a:srgbClr val="FFFF00"/>
                </a:solidFill>
                <a:latin typeface="Aptos"/>
              </a:rPr>
              <a:t>Cybercrime Investigation Assistant for Detectives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774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chemeClr val="bg1"/>
                </a:solidFill>
                <a:latin typeface="Aptos"/>
              </a:rPr>
              <a:t>Retrieves relevant case evidence, ranks it with confidence, and generates a cited investigation report without hardcoding case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4160520"/>
            <a:ext cx="73152" cy="10515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" y="4325112"/>
            <a:ext cx="13416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ptos"/>
              </a:rPr>
              <a:t>Core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690872"/>
            <a:ext cx="29241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1"/>
                </a:solidFill>
                <a:latin typeface="Aptos"/>
              </a:rPr>
              <a:t>Evidence first. LLM second. Citations always.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3400" y="4160520"/>
            <a:ext cx="73152" cy="105156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4568" y="4325112"/>
            <a:ext cx="11282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ptos"/>
              </a:rPr>
              <a:t>Design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690872"/>
            <a:ext cx="245772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1"/>
                </a:solidFill>
                <a:latin typeface="Aptos"/>
              </a:rPr>
              <a:t>Reusable across future case corpora.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28431" y="4160520"/>
            <a:ext cx="73152" cy="105156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4325112"/>
            <a:ext cx="12442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ptos"/>
              </a:rPr>
              <a:t>Risk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90872"/>
            <a:ext cx="22813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1"/>
                </a:solidFill>
                <a:latin typeface="Aptos"/>
              </a:rPr>
              <a:t>Red herrings and prompt injection.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6622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chemeClr val="bg1"/>
                </a:solidFill>
                <a:latin typeface="Aptos"/>
              </a:rPr>
              <a:t>Problem Framing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489457"/>
            <a:ext cx="521208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EEF3F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Detectives have 8 case files, but not all are relevant.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A9B5C6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Need natural-language investigation questions.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A9B5C6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Need evidence retrieval, ranking, justification, and report generation.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A9B5C6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Prompts must remain case-agnosti</a:t>
            </a:r>
            <a:r>
              <a:rPr lang="en-US" dirty="0">
                <a:solidFill>
                  <a:schemeClr val="bg1"/>
                </a:solidFill>
              </a:rPr>
              <a:t>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983480" cy="100584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100584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01968" y="1581912"/>
            <a:ext cx="23967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ptos"/>
              </a:rPr>
              <a:t>What the system should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47672"/>
            <a:ext cx="45066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chemeClr val="bg1"/>
                </a:solidFill>
                <a:latin typeface="Aptos"/>
              </a:rPr>
              <a:t>Turn a detective question into ranked evidence and a cited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55463"/>
            <a:ext cx="4983480" cy="947857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2697480"/>
            <a:ext cx="73152" cy="100584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1968" y="2862072"/>
            <a:ext cx="192116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ptos"/>
              </a:rPr>
              <a:t>What it should 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169849"/>
            <a:ext cx="478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chemeClr val="bg1"/>
                </a:solidFill>
                <a:latin typeface="Aptos"/>
              </a:rPr>
              <a:t>Let the LLM invent facts from memory or hidden case-specific prompts.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004F1-A467-72EC-E4D2-97D20606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B5369-5457-EEDB-AA0A-DA7D85C2281C}"/>
              </a:ext>
            </a:extLst>
          </p:cNvPr>
          <p:cNvSpPr txBox="1"/>
          <p:nvPr/>
        </p:nvSpPr>
        <p:spPr>
          <a:xfrm>
            <a:off x="658368" y="1901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b="0" dirty="0">
              <a:solidFill>
                <a:srgbClr val="E8B339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5D45F-BA92-AF8C-392D-F88901017453}"/>
              </a:ext>
            </a:extLst>
          </p:cNvPr>
          <p:cNvSpPr txBox="1"/>
          <p:nvPr/>
        </p:nvSpPr>
        <p:spPr>
          <a:xfrm>
            <a:off x="7315200" y="2905780"/>
            <a:ext cx="7774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ptos"/>
              </a:rPr>
              <a:t>High level architecture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CC88D-C539-2771-DF45-98343741C5AA}"/>
              </a:ext>
            </a:extLst>
          </p:cNvPr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  <p:pic>
        <p:nvPicPr>
          <p:cNvPr id="23" name="Picture 22" descr="A diagram of a crime investigation&#10;&#10;AI-generated content may be incorrect.">
            <a:extLst>
              <a:ext uri="{FF2B5EF4-FFF2-40B4-BE49-F238E27FC236}">
                <a16:creationId xmlns:a16="http://schemas.microsoft.com/office/drawing/2014/main" id="{C06DAC5E-C7C8-1ACE-A8F0-F4E3D98A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4" y="294290"/>
            <a:ext cx="6771741" cy="59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9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45949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chemeClr val="bg1"/>
                </a:solidFill>
                <a:latin typeface="Aptos"/>
              </a:rPr>
              <a:t>Model And Database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33832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23006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Embedding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26549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text-embedding-3-small
Fast, cost-effective, and strong enough for short evidence files. Whole-document embedding preserves red-herring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38328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36007" y="1490472"/>
            <a:ext cx="15424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Chat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856231"/>
            <a:ext cx="25941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gpt-4o-mini
Used for query expansion, relevance grading, and report generation. Good quality/cost balance for interactive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73152" cy="33832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5048" y="1490472"/>
            <a:ext cx="13399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Vector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56231"/>
            <a:ext cx="2919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err="1">
                <a:solidFill>
                  <a:schemeClr val="bg1"/>
                </a:solidFill>
                <a:latin typeface="Aptos"/>
              </a:rPr>
              <a:t>ChromaDB</a:t>
            </a:r>
            <a:r>
              <a:rPr b="0" dirty="0">
                <a:solidFill>
                  <a:schemeClr val="bg1"/>
                </a:solidFill>
                <a:latin typeface="Aptos"/>
              </a:rPr>
              <a:t>
Simple persistent local vector store with cosine similarity. Suitable for a small case-file corpus.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5336" y="-9373"/>
            <a:ext cx="12312191" cy="7166321"/>
          </a:xfrm>
          <a:prstGeom prst="rect">
            <a:avLst/>
          </a:prstGeom>
          <a:solidFill>
            <a:srgbClr val="05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669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</a:rPr>
              <a:t>Retrieval Strategy: Single vs Multi-Step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14400"/>
            <a:ext cx="1188720" cy="54864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325378"/>
            <a:ext cx="73647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C6D2"/>
                </a:solidFill>
              </a:defRPr>
            </a:pPr>
            <a:r>
              <a:rPr sz="2000" b="1" dirty="0">
                <a:solidFill>
                  <a:schemeClr val="bg2"/>
                </a:solidFill>
                <a:latin typeface="+mj-lt"/>
              </a:rPr>
              <a:t>Goal: broader evidence coverage with cleaner final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1780"/>
            <a:ext cx="3339662" cy="2092538"/>
          </a:xfrm>
          <a:prstGeom prst="roundRect">
            <a:avLst/>
          </a:prstGeom>
          <a:solidFill>
            <a:srgbClr val="0F1C30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flipH="1">
            <a:off x="612648" y="1807778"/>
            <a:ext cx="73152" cy="2436089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6446" y="220567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A"/>
                </a:solidFill>
              </a:defRPr>
            </a:pPr>
            <a:r>
              <a:rPr dirty="0"/>
              <a:t>Single-step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957" y="2633356"/>
            <a:ext cx="470916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One query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One vector search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Nearest evidence only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EC6D2"/>
                </a:solidFill>
              </a:defRPr>
            </a:pPr>
            <a:r>
              <a:rPr dirty="0">
                <a:solidFill>
                  <a:srgbClr val="FF0000"/>
                </a:solidFill>
              </a:rPr>
              <a:t>Risk: misses multi-doc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051780"/>
            <a:ext cx="3495113" cy="2077784"/>
          </a:xfrm>
          <a:prstGeom prst="roundRect">
            <a:avLst/>
          </a:prstGeom>
          <a:solidFill>
            <a:srgbClr val="0F1C30"/>
          </a:solidFill>
          <a:ln>
            <a:solidFill>
              <a:srgbClr val="30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flipH="1">
            <a:off x="6126478" y="1807777"/>
            <a:ext cx="69774" cy="2436089"/>
          </a:xfrm>
          <a:prstGeom prst="rect">
            <a:avLst/>
          </a:prstGeom>
          <a:solidFill>
            <a:srgbClr val="6E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2170876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7FA"/>
                </a:solidFill>
              </a:defRPr>
            </a:pPr>
            <a:r>
              <a:rPr dirty="0"/>
              <a:t>Multi-step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47188"/>
            <a:ext cx="507492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Expand query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Search multiple angles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Merge + deduplicate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5F7FA"/>
                </a:solidFill>
              </a:defRPr>
            </a:pPr>
            <a:r>
              <a:rPr dirty="0"/>
              <a:t>Rank + LLM-grade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5212080"/>
            <a:ext cx="5669280" cy="914400"/>
          </a:xfrm>
          <a:prstGeom prst="roundRect">
            <a:avLst/>
          </a:prstGeom>
          <a:solidFill>
            <a:srgbClr val="122036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5413248"/>
            <a:ext cx="5336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</a:rPr>
              <a:t>Chosen strategy-&gt; Multi-Step Retrieval</a:t>
            </a:r>
            <a:endParaRPr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Ranking, Confidence, And Explainability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60406" y="1781747"/>
            <a:ext cx="52711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>
                <a:solidFill>
                  <a:srgbClr val="FFFF00"/>
                </a:solidFill>
                <a:latin typeface="Aptos"/>
              </a:rPr>
              <a:t>confidence = 1 - </a:t>
            </a:r>
            <a:r>
              <a:rPr sz="2800" i="1" dirty="0" err="1">
                <a:solidFill>
                  <a:srgbClr val="FFFF00"/>
                </a:solidFill>
                <a:latin typeface="Aptos"/>
              </a:rPr>
              <a:t>cosine_distance</a:t>
            </a:r>
            <a:endParaRPr sz="2800" i="1" dirty="0">
              <a:solidFill>
                <a:srgbClr val="FFFF0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73152" cy="20116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770632"/>
            <a:ext cx="23076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EEF3FA"/>
                </a:solidFill>
                <a:latin typeface="Aptos"/>
              </a:rPr>
              <a:t>Each result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136392"/>
            <a:ext cx="224356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0" dirty="0">
                <a:solidFill>
                  <a:schemeClr val="bg1"/>
                </a:solidFill>
                <a:latin typeface="Aptos"/>
              </a:rPr>
              <a:t>Source file
Confidence score
Matched query
Relevance reason
Evidence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0604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606040"/>
            <a:ext cx="73152" cy="201168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2770632"/>
            <a:ext cx="18887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EEF3FA"/>
                </a:solidFill>
                <a:latin typeface="Aptos"/>
              </a:rPr>
              <a:t>Excluded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36392"/>
            <a:ext cx="23476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0" dirty="0">
                <a:solidFill>
                  <a:schemeClr val="bg1"/>
                </a:solidFill>
                <a:latin typeface="Aptos"/>
              </a:rPr>
              <a:t>Not hidden</a:t>
            </a:r>
            <a:endParaRPr lang="en-US" b="0" dirty="0">
              <a:solidFill>
                <a:schemeClr val="bg1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0" dirty="0">
                <a:solidFill>
                  <a:schemeClr val="bg1"/>
                </a:solidFill>
                <a:latin typeface="Aptos"/>
              </a:rPr>
              <a:t>Shown separately with why they were ruled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60604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606040"/>
            <a:ext cx="73152" cy="201168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770632"/>
            <a:ext cx="21825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EEF3FA"/>
                </a:solidFill>
                <a:latin typeface="Aptos"/>
              </a:rPr>
              <a:t>Important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136392"/>
            <a:ext cx="26866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chemeClr val="bg1"/>
                </a:solidFill>
                <a:latin typeface="Aptos"/>
              </a:rPr>
              <a:t>Confidence is retrieval similarity, not probability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0977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chemeClr val="bg1"/>
                </a:solidFill>
                <a:latin typeface="Aptos"/>
              </a:rPr>
              <a:t>Evaluation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2738" y="2054394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738" y="2054394"/>
            <a:ext cx="73152" cy="301752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3906" y="2218986"/>
            <a:ext cx="25070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Stored fixture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905" y="2782325"/>
            <a:ext cx="324672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100% retrieval recall
~86% distractor rejection
8/8 top-1 relevant
0 hallucinated source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1778" y="2054394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1778" y="2054394"/>
            <a:ext cx="73152" cy="30175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945" y="2218986"/>
            <a:ext cx="24513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Offline mock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945" y="2782325"/>
            <a:ext cx="324242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No OpenAI calls
Checks retrieval wiring
Checks confidence conversion
Checks citation retry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0817" y="2054394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20817" y="2054394"/>
            <a:ext cx="73152" cy="301752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986" y="2218986"/>
            <a:ext cx="18633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Honest 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9794" y="2782325"/>
            <a:ext cx="2919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100% is fixture-level only. It is not a real-world accuracy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EEF3FA"/>
                </a:solidFill>
                <a:latin typeface="Aptos"/>
              </a:rPr>
              <a:t>Final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1234" y="1931164"/>
            <a:ext cx="6917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EEF3FA"/>
                </a:solidFill>
                <a:latin typeface="Aptos"/>
              </a:rPr>
              <a:t>Designed evidence-based assistant for helping detectives</a:t>
            </a:r>
            <a:endParaRPr sz="2000" b="1" dirty="0">
              <a:solidFill>
                <a:srgbClr val="EEF3FA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73152" cy="12801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7008" y="2907792"/>
            <a:ext cx="13244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Traceable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273552"/>
            <a:ext cx="2473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Evidence + citations before conclusions.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73152" cy="128016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3168" y="2907792"/>
            <a:ext cx="12811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Reusable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273552"/>
            <a:ext cx="2627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No case-specific facts in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73152" cy="128016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9328" y="2907792"/>
            <a:ext cx="10161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Aptos"/>
              </a:rPr>
              <a:t>Robust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273552"/>
            <a:ext cx="264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chemeClr val="bg1"/>
                </a:solidFill>
                <a:latin typeface="Aptos"/>
              </a:rPr>
              <a:t>Designed for red herrings and prompt injection.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254428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chemeClr val="bg1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8C612D-F17D-DFCD-8157-CA9E351090D2}"/>
              </a:ext>
            </a:extLst>
          </p:cNvPr>
          <p:cNvSpPr/>
          <p:nvPr/>
        </p:nvSpPr>
        <p:spPr>
          <a:xfrm>
            <a:off x="-94592" y="-109295"/>
            <a:ext cx="12472812" cy="7277757"/>
          </a:xfrm>
          <a:prstGeom prst="rect">
            <a:avLst/>
          </a:prstGeom>
          <a:solidFill>
            <a:srgbClr val="05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for Improvement &amp; Learnings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877824"/>
            <a:ext cx="1325880" cy="50292"/>
          </a:xfrm>
          <a:prstGeom prst="rect">
            <a:avLst/>
          </a:prstGeom>
          <a:solidFill>
            <a:srgbClr val="E8B3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improve next, and what the assessment taught me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132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8B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for Improvement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54496" y="1481328"/>
            <a:ext cx="5257800" cy="457200"/>
          </a:xfrm>
          <a:prstGeom prst="roundRect">
            <a:avLst>
              <a:gd name="adj" fmla="val 12000"/>
            </a:avLst>
          </a:prstGeom>
          <a:solidFill>
            <a:srgbClr val="1324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28816" y="1572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6DD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" y="2286000"/>
            <a:ext cx="73152" cy="566928"/>
          </a:xfrm>
          <a:prstGeom prst="rect">
            <a:avLst/>
          </a:prstGeom>
          <a:solidFill>
            <a:srgbClr val="E8B339"/>
          </a:solidFill>
          <a:ln w="12700">
            <a:solidFill>
              <a:srgbClr val="E8B3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404872"/>
            <a:ext cx="347472" cy="347472"/>
          </a:xfrm>
          <a:prstGeom prst="ellipse">
            <a:avLst/>
          </a:prstGeom>
          <a:solidFill>
            <a:srgbClr val="E8B339">
              <a:alpha val="15000"/>
            </a:srgbClr>
          </a:solidFill>
          <a:ln w="12700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0472" y="234086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evaluation set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90472" y="26700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queries, more files, harder multi-doc and adversarial cases.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410712"/>
            <a:ext cx="73152" cy="566928"/>
          </a:xfrm>
          <a:prstGeom prst="rect">
            <a:avLst/>
          </a:prstGeom>
          <a:solidFill>
            <a:srgbClr val="E8B339"/>
          </a:solidFill>
          <a:ln w="12700">
            <a:solidFill>
              <a:srgbClr val="E8B3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5840" y="3529584"/>
            <a:ext cx="347472" cy="347472"/>
          </a:xfrm>
          <a:prstGeom prst="ellipse">
            <a:avLst/>
          </a:prstGeom>
          <a:solidFill>
            <a:srgbClr val="E8B339">
              <a:alpha val="15000"/>
            </a:srgbClr>
          </a:solidFill>
          <a:ln w="12700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0472" y="34655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Citation-level grounding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90472" y="37947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every report claim back to a source snippet.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437083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5528" y="4535424"/>
            <a:ext cx="73152" cy="566928"/>
          </a:xfrm>
          <a:prstGeom prst="rect">
            <a:avLst/>
          </a:prstGeom>
          <a:solidFill>
            <a:srgbClr val="E8B339"/>
          </a:solidFill>
          <a:ln w="12700">
            <a:solidFill>
              <a:srgbClr val="E8B3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4654296"/>
            <a:ext cx="347472" cy="347472"/>
          </a:xfrm>
          <a:prstGeom prst="ellipse">
            <a:avLst/>
          </a:prstGeom>
          <a:solidFill>
            <a:srgbClr val="E8B339">
              <a:alpha val="15000"/>
            </a:srgbClr>
          </a:solidFill>
          <a:ln w="12700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90472" y="4590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checks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90472" y="49194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injection, red herrings, and hallucination detection.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54496" y="2121408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64224" y="2286000"/>
            <a:ext cx="73152" cy="566928"/>
          </a:xfrm>
          <a:prstGeom prst="rect">
            <a:avLst/>
          </a:prstGeom>
          <a:solidFill>
            <a:srgbClr val="6DDC8C"/>
          </a:solidFill>
          <a:ln w="12700">
            <a:solidFill>
              <a:srgbClr val="6DD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74536" y="2404872"/>
            <a:ext cx="347472" cy="347472"/>
          </a:xfrm>
          <a:prstGeom prst="ellipse">
            <a:avLst/>
          </a:prstGeom>
          <a:solidFill>
            <a:srgbClr val="6DDC8C">
              <a:alpha val="15000"/>
            </a:srgbClr>
          </a:solidFill>
          <a:ln w="12700">
            <a:solidFill>
              <a:srgbClr val="6DD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4536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D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9168" y="234086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matters in investigations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059168" y="26700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evidence is risky than one extra doc.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54496" y="324612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64224" y="3410712"/>
            <a:ext cx="73152" cy="566928"/>
          </a:xfrm>
          <a:prstGeom prst="rect">
            <a:avLst/>
          </a:prstGeom>
          <a:solidFill>
            <a:srgbClr val="6DDC8C"/>
          </a:solidFill>
          <a:ln w="12700">
            <a:solidFill>
              <a:srgbClr val="6DD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74536" y="3529584"/>
            <a:ext cx="347472" cy="347472"/>
          </a:xfrm>
          <a:prstGeom prst="ellipse">
            <a:avLst/>
          </a:prstGeom>
          <a:solidFill>
            <a:srgbClr val="6DDC8C">
              <a:alpha val="15000"/>
            </a:srgbClr>
          </a:solidFill>
          <a:ln w="12700">
            <a:solidFill>
              <a:srgbClr val="6DD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74536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D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59168" y="34655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is not relevance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7059168" y="37947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cosine score can still be a red herring.</a:t>
            </a:r>
            <a:endParaRPr lang="en-US" sz="1150" dirty="0">
              <a:solidFill>
                <a:schemeClr val="bg2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54496" y="437083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0F1B2E"/>
          </a:solidFill>
          <a:ln w="12700">
            <a:solidFill>
              <a:srgbClr val="314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64224" y="4535424"/>
            <a:ext cx="73152" cy="566928"/>
          </a:xfrm>
          <a:prstGeom prst="rect">
            <a:avLst/>
          </a:prstGeom>
          <a:solidFill>
            <a:srgbClr val="6DDC8C"/>
          </a:solidFill>
          <a:ln w="12700">
            <a:solidFill>
              <a:srgbClr val="6DDC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74536" y="4654296"/>
            <a:ext cx="347472" cy="347472"/>
          </a:xfrm>
          <a:prstGeom prst="ellipse">
            <a:avLst/>
          </a:prstGeom>
          <a:solidFill>
            <a:srgbClr val="6DDC8C">
              <a:alpha val="15000"/>
            </a:srgbClr>
          </a:solidFill>
          <a:ln w="12700">
            <a:solidFill>
              <a:srgbClr val="6DD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74536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D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59168" y="4590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6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Multi-step adds control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059168" y="49194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chemeClr val="bg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+ grading improves coverage and context quality.</a:t>
            </a:r>
            <a:endParaRPr lang="en-US" sz="115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5615" y="-136633"/>
            <a:ext cx="12507311" cy="7168054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6F8FA"/>
                </a:solidFill>
              </a:rPr>
              <a:t>Scaling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14400"/>
            <a:ext cx="1143000" cy="54864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CC8"/>
                </a:solidFill>
              </a:defRPr>
            </a:pPr>
            <a:r>
              <a:rPr sz="2000" dirty="0">
                <a:solidFill>
                  <a:schemeClr val="bg2"/>
                </a:solidFill>
                <a:latin typeface="+mj-lt"/>
              </a:rPr>
              <a:t>If moved beyond the assessment into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611880" cy="1417320"/>
          </a:xfrm>
          <a:prstGeom prst="roundRect">
            <a:avLst/>
          </a:prstGeom>
          <a:solidFill>
            <a:srgbClr val="111B2B"/>
          </a:solidFill>
          <a:ln>
            <a:solidFill>
              <a:srgbClr val="34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6F8FA"/>
                </a:solidFill>
              </a:defRPr>
            </a:pPr>
            <a:r>
              <a:t>1. Robust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200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Incremental updates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Validation + </a:t>
            </a:r>
            <a:r>
              <a:rPr dirty="0" err="1">
                <a:solidFill>
                  <a:schemeClr val="bg2"/>
                </a:solidFill>
              </a:rPr>
              <a:t>dedup</a:t>
            </a:r>
            <a:endParaRPr dirty="0">
              <a:solidFill>
                <a:schemeClr val="bg2"/>
              </a:solidFill>
            </a:endParaRP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Document versioning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08760"/>
            <a:ext cx="3611880" cy="1417320"/>
          </a:xfrm>
          <a:prstGeom prst="roundRect">
            <a:avLst/>
          </a:prstGeom>
          <a:solidFill>
            <a:srgbClr val="111B2B"/>
          </a:solidFill>
          <a:ln>
            <a:solidFill>
              <a:srgbClr val="34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65506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6F8FA"/>
                </a:solidFill>
              </a:defRPr>
            </a:pPr>
            <a:r>
              <a:t>2. Retrieval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39112"/>
            <a:ext cx="3200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Production vector DB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Better indexing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Threshold 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508760"/>
            <a:ext cx="3154680" cy="1417320"/>
          </a:xfrm>
          <a:prstGeom prst="roundRect">
            <a:avLst/>
          </a:prstGeom>
          <a:solidFill>
            <a:srgbClr val="111B2B"/>
          </a:solidFill>
          <a:ln>
            <a:solidFill>
              <a:srgbClr val="34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67928" y="165506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6F8FA"/>
                </a:solidFill>
              </a:defRPr>
            </a:pPr>
            <a:r>
              <a:t>3.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039112"/>
            <a:ext cx="27432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Caching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Batching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Async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5349240" cy="1508760"/>
          </a:xfrm>
          <a:prstGeom prst="roundRect">
            <a:avLst/>
          </a:prstGeom>
          <a:solidFill>
            <a:srgbClr val="111B2B"/>
          </a:solidFill>
          <a:ln>
            <a:solidFill>
              <a:srgbClr val="34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34670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6F8FA"/>
                </a:solidFill>
              </a:defRPr>
            </a:pPr>
            <a:r>
              <a:t>4.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9377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Latency + token cost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Retrieved / excluded docs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Failure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00400"/>
            <a:ext cx="5257800" cy="1508760"/>
          </a:xfrm>
          <a:prstGeom prst="roundRect">
            <a:avLst/>
          </a:prstGeom>
          <a:solidFill>
            <a:srgbClr val="111B2B"/>
          </a:solidFill>
          <a:ln>
            <a:solidFill>
              <a:srgbClr val="34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334670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6F8FA"/>
                </a:solidFill>
              </a:defRPr>
            </a:pPr>
            <a:r>
              <a:t>5. Continuous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30752"/>
            <a:ext cx="484632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Larger test set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Harder edge cases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>
                <a:solidFill>
                  <a:srgbClr val="B4BCC8"/>
                </a:solidFill>
              </a:defRPr>
            </a:pPr>
            <a:r>
              <a:rPr dirty="0">
                <a:solidFill>
                  <a:schemeClr val="bg2"/>
                </a:solidFill>
              </a:rPr>
              <a:t>Regression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5303520"/>
            <a:ext cx="6400800" cy="822960"/>
          </a:xfrm>
          <a:prstGeom prst="roundRect">
            <a:avLst/>
          </a:prstGeom>
          <a:solidFill>
            <a:srgbClr val="111B2B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5994" y="5397853"/>
            <a:ext cx="5758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E8B339"/>
                </a:solidFill>
              </a:rPr>
              <a:t>Focus: </a:t>
            </a:r>
            <a:r>
              <a:rPr sz="1800" dirty="0">
                <a:solidFill>
                  <a:srgbClr val="F6F8FA"/>
                </a:solidFill>
              </a:rPr>
              <a:t>make ingestion reliable, retrieval scalable, and evaluation repeatable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634</Words>
  <Application>Microsoft Macintosh PowerPoint</Application>
  <PresentationFormat>Widescreen</PresentationFormat>
  <Paragraphs>118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Pranjali Rajendra Sonawane</cp:lastModifiedBy>
  <cp:revision>4</cp:revision>
  <dcterms:created xsi:type="dcterms:W3CDTF">2013-01-27T09:14:16Z</dcterms:created>
  <dcterms:modified xsi:type="dcterms:W3CDTF">2026-07-06T08:40:47Z</dcterms:modified>
  <cp:category/>
</cp:coreProperties>
</file>